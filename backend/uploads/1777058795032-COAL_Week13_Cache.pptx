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915" r:id="rId2"/>
  </p:sldMasterIdLst>
  <p:notesMasterIdLst>
    <p:notesMasterId r:id="rId37"/>
  </p:notesMasterIdLst>
  <p:handoutMasterIdLst>
    <p:handoutMasterId r:id="rId38"/>
  </p:handoutMasterIdLst>
  <p:sldIdLst>
    <p:sldId id="435" r:id="rId3"/>
    <p:sldId id="484" r:id="rId4"/>
    <p:sldId id="274" r:id="rId5"/>
    <p:sldId id="275" r:id="rId6"/>
    <p:sldId id="276" r:id="rId7"/>
    <p:sldId id="277" r:id="rId8"/>
    <p:sldId id="278" r:id="rId9"/>
    <p:sldId id="280" r:id="rId10"/>
    <p:sldId id="279" r:id="rId11"/>
    <p:sldId id="282" r:id="rId12"/>
    <p:sldId id="266" r:id="rId13"/>
    <p:sldId id="267" r:id="rId14"/>
    <p:sldId id="283" r:id="rId15"/>
    <p:sldId id="268" r:id="rId16"/>
    <p:sldId id="284" r:id="rId17"/>
    <p:sldId id="269" r:id="rId18"/>
    <p:sldId id="259" r:id="rId19"/>
    <p:sldId id="496" r:id="rId20"/>
    <p:sldId id="497" r:id="rId21"/>
    <p:sldId id="272" r:id="rId22"/>
    <p:sldId id="270" r:id="rId23"/>
    <p:sldId id="498" r:id="rId24"/>
    <p:sldId id="264" r:id="rId25"/>
    <p:sldId id="500" r:id="rId26"/>
    <p:sldId id="505" r:id="rId27"/>
    <p:sldId id="271" r:id="rId28"/>
    <p:sldId id="502" r:id="rId29"/>
    <p:sldId id="504" r:id="rId30"/>
    <p:sldId id="503" r:id="rId31"/>
    <p:sldId id="509" r:id="rId32"/>
    <p:sldId id="506" r:id="rId33"/>
    <p:sldId id="507" r:id="rId34"/>
    <p:sldId id="510" r:id="rId35"/>
    <p:sldId id="508" r:id="rId36"/>
  </p:sldIdLst>
  <p:sldSz cx="9144000" cy="6858000" type="screen4x3"/>
  <p:notesSz cx="7099300" cy="10234613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0929"/>
  </p:normalViewPr>
  <p:slideViewPr>
    <p:cSldViewPr>
      <p:cViewPr varScale="1">
        <p:scale>
          <a:sx n="76" d="100"/>
          <a:sy n="76" d="100"/>
        </p:scale>
        <p:origin x="144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-3006" y="-114"/>
      </p:cViewPr>
      <p:guideLst>
        <p:guide orient="horz" pos="3223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8FCEE41B-ED20-4853-840F-1657766F8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B23A6064-B5F2-4C8F-BF41-6520CB6C2B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kumimoji="1" lang="en-US" sz="3600" dirty="0">
                <a:solidFill>
                  <a:schemeClr val="tx2"/>
                </a:solidFill>
              </a:rPr>
              <a:t>Embedded Systems Design</a:t>
            </a:r>
          </a:p>
        </p:txBody>
      </p:sp>
      <p:sp>
        <p:nvSpPr>
          <p:cNvPr id="3" name="Rectangle 34"/>
          <p:cNvSpPr>
            <a:spLocks noChangeArrowheads="1"/>
          </p:cNvSpPr>
          <p:nvPr/>
        </p:nvSpPr>
        <p:spPr bwMode="auto">
          <a:xfrm>
            <a:off x="228600" y="1295400"/>
            <a:ext cx="8686800" cy="1524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228600" y="6096000"/>
            <a:ext cx="8686800" cy="762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 w="12700" cap="sq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1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 w="12700" cap="sq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9AAB620-9ECB-4ACC-8CE0-4D34334C7B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C083E-7278-49AA-AE6B-6EFDBEA307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12EE2F-6233-46B6-BB67-01627E2BA0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1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11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06424-B40E-4312-99F3-53D8617300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1C9E6F-E22B-4503-A4DE-582E0D112C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34B128-6F44-48C4-AEAF-9873071711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3A5140-4621-4D07-BFF0-E4AEA5B82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D33C65-15B4-4C82-AA5F-EEE4F2471C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B867A-8266-48A1-949E-F1CFAFD17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B0DBD-8D32-46A6-A539-B9BFDDB603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152400"/>
            <a:ext cx="20955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341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D028CE-0C05-40D2-8217-8BC030E47F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7162800" y="1463675"/>
            <a:ext cx="195263" cy="39290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7429500" y="3494088"/>
            <a:ext cx="1571625" cy="1900237"/>
          </a:xfrm>
          <a:prstGeom prst="rect">
            <a:avLst/>
          </a:prstGeom>
          <a:solidFill>
            <a:schemeClr val="accent3"/>
          </a:soli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7429500" y="1457325"/>
            <a:ext cx="1571625" cy="1900238"/>
          </a:xfrm>
          <a:prstGeom prst="rect">
            <a:avLst/>
          </a:prstGeom>
          <a:solidFill>
            <a:schemeClr val="accent1"/>
          </a:soli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1"/>
          <p:cNvSpPr txBox="1">
            <a:spLocks/>
          </p:cNvSpPr>
          <p:nvPr userDrawn="1"/>
        </p:nvSpPr>
        <p:spPr>
          <a:xfrm>
            <a:off x="142875" y="142875"/>
            <a:ext cx="8858250" cy="123825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kern="1200" dirty="0">
                <a:solidFill>
                  <a:schemeClr val="bg1"/>
                </a:solidFill>
                <a:latin typeface="Times New Roman" pitchFamily="18" charset="0"/>
                <a:ea typeface="+mn-ea"/>
                <a:cs typeface="+mn-cs"/>
              </a:rPr>
              <a:t>Microprocessor</a:t>
            </a:r>
            <a:r>
              <a:rPr lang="en-US" sz="3200" b="1" kern="1200" baseline="0" dirty="0">
                <a:solidFill>
                  <a:schemeClr val="bg1"/>
                </a:solidFill>
                <a:latin typeface="Times New Roman" pitchFamily="18" charset="0"/>
                <a:ea typeface="+mn-ea"/>
                <a:cs typeface="+mn-cs"/>
              </a:rPr>
              <a:t> Systems </a:t>
            </a:r>
            <a:endParaRPr lang="en-US" sz="3200" b="1" kern="1200" dirty="0">
              <a:solidFill>
                <a:schemeClr val="bg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42875" y="6357938"/>
            <a:ext cx="8858250" cy="369887"/>
          </a:xfrm>
          <a:prstGeom prst="rect">
            <a:avLst/>
          </a:prstGeom>
          <a:solidFill>
            <a:schemeClr val="accent2"/>
          </a:solidFill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800" b="1" dirty="0">
                <a:solidFill>
                  <a:schemeClr val="bg1"/>
                </a:solidFill>
              </a:rPr>
              <a:t>           Muhammad Jameel  	&lt;muhammad.jameel@seecs.edu.pk&gt;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0"/>
          </p:nvPr>
        </p:nvSpPr>
        <p:spPr>
          <a:xfrm>
            <a:off x="142844" y="5467352"/>
            <a:ext cx="8858312" cy="890608"/>
          </a:xfrm>
          <a:solidFill>
            <a:schemeClr val="accent6"/>
          </a:solidFill>
        </p:spPr>
        <p:txBody>
          <a:bodyPr anchor="ctr">
            <a:noAutofit/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en-US" sz="4800" baseline="0" dirty="0">
                <a:solidFill>
                  <a:schemeClr val="bg1"/>
                </a:solidFill>
              </a:defRPr>
            </a:lvl1pPr>
            <a:extLst/>
          </a:lstStyle>
          <a:p>
            <a:pPr lvl="0"/>
            <a:endParaRPr lang="en-GB" dirty="0"/>
          </a:p>
          <a:p>
            <a:pPr lvl="0"/>
            <a:r>
              <a:rPr lang="en-GB" dirty="0"/>
              <a:t>Course Outline</a:t>
            </a:r>
          </a:p>
          <a:p>
            <a:pPr lvl="0"/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142844" y="1452485"/>
            <a:ext cx="6929438" cy="3929092"/>
          </a:xfrm>
          <a:solidFill>
            <a:schemeClr val="bg1"/>
          </a:solidFill>
          <a:ln w="3492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>
            <a:lvl1pPr marL="0" indent="0" algn="ctr" rtl="0" latinLnBrk="0">
              <a:spcBef>
                <a:spcPct val="20000"/>
              </a:spcBef>
              <a:defRPr lang="en-US" sz="20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8" name="Rectangle 17"/>
          <p:cNvSpPr>
            <a:spLocks noGrp="1"/>
          </p:cNvSpPr>
          <p:nvPr>
            <p:ph type="body" sz="quarter" idx="15"/>
          </p:nvPr>
        </p:nvSpPr>
        <p:spPr>
          <a:xfrm>
            <a:off x="7572396" y="3724284"/>
            <a:ext cx="1409700" cy="990600"/>
          </a:xfrm>
        </p:spPr>
        <p:txBody>
          <a:bodyPr/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3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82C10-32D4-4DB1-AF9B-EF0B3D3BF9B8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16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4E317D99-44FB-421A-B95E-6649F0D4A0C6}" type="datetime1">
              <a:rPr lang="en-US" smtClean="0">
                <a:solidFill>
                  <a:srgbClr val="C0504D"/>
                </a:solidFill>
              </a:rPr>
              <a:pPr/>
              <a:t>4/22/2026</a:t>
            </a:fld>
            <a:endParaRPr lang="en-US">
              <a:solidFill>
                <a:srgbClr val="C0504D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>
              <a:solidFill>
                <a:srgbClr val="C0504D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1F246282-373D-4A46-8076-78C8C30E8FDD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187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4B655-071C-49EF-A888-F2E486498C65}" type="datetime1">
              <a:rPr lang="en-US" smtClean="0">
                <a:solidFill>
                  <a:srgbClr val="C0504D"/>
                </a:solidFill>
              </a:rPr>
              <a:pPr/>
              <a:t>4/22/2026</a:t>
            </a:fld>
            <a:endParaRPr lang="en-US">
              <a:solidFill>
                <a:srgbClr val="C0504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0504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6282-373D-4A46-8076-78C8C30E8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52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432-B1F7-40D0-888E-3CCEF26A3658}" type="datetime1">
              <a:rPr lang="en-US" smtClean="0">
                <a:solidFill>
                  <a:srgbClr val="C0504D"/>
                </a:solidFill>
              </a:rPr>
              <a:pPr/>
              <a:t>4/22/2026</a:t>
            </a:fld>
            <a:endParaRPr lang="en-US">
              <a:solidFill>
                <a:srgbClr val="C0504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0504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6282-373D-4A46-8076-78C8C30E8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74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D379-4C13-4780-8D1C-9DA904B2BE22}" type="datetime1">
              <a:rPr lang="en-US" smtClean="0">
                <a:solidFill>
                  <a:srgbClr val="C0504D"/>
                </a:solidFill>
              </a:rPr>
              <a:pPr/>
              <a:t>4/22/2026</a:t>
            </a:fld>
            <a:endParaRPr lang="en-US">
              <a:solidFill>
                <a:srgbClr val="C0504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0504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6282-373D-4A46-8076-78C8C30E8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4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6A69326-6BDA-444D-AA24-660D4C55F127}" type="datetime1">
              <a:rPr lang="en-US" smtClean="0">
                <a:solidFill>
                  <a:srgbClr val="C0504D"/>
                </a:solidFill>
              </a:rPr>
              <a:pPr/>
              <a:t>4/22/2026</a:t>
            </a:fld>
            <a:endParaRPr lang="en-US">
              <a:solidFill>
                <a:srgbClr val="C0504D"/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F246282-373D-4A46-8076-78C8C30E8FD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C050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5037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F79E4BEB-FF96-4217-A6F1-0F70567D4EA3}" type="datetime1">
              <a:rPr lang="en-US" smtClean="0">
                <a:solidFill>
                  <a:srgbClr val="C0504D"/>
                </a:solidFill>
              </a:rPr>
              <a:pPr/>
              <a:t>4/22/2026</a:t>
            </a:fld>
            <a:endParaRPr lang="en-US">
              <a:solidFill>
                <a:srgbClr val="C0504D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>
              <a:solidFill>
                <a:srgbClr val="C0504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1F246282-373D-4A46-8076-78C8C30E8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844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9F4E-0E47-43A8-95E2-34A369AEB810}" type="datetime1">
              <a:rPr lang="en-US" smtClean="0">
                <a:solidFill>
                  <a:srgbClr val="C0504D"/>
                </a:solidFill>
              </a:rPr>
              <a:pPr/>
              <a:t>4/22/2026</a:t>
            </a:fld>
            <a:endParaRPr lang="en-US">
              <a:solidFill>
                <a:srgbClr val="C0504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0504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6282-373D-4A46-8076-78C8C30E8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59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676B-6480-492B-83A3-2BC5DA078E6F}" type="datetime1">
              <a:rPr lang="en-US" smtClean="0">
                <a:solidFill>
                  <a:srgbClr val="C0504D"/>
                </a:solidFill>
              </a:rPr>
              <a:pPr/>
              <a:t>4/22/2026</a:t>
            </a:fld>
            <a:endParaRPr lang="en-US">
              <a:solidFill>
                <a:srgbClr val="C0504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0504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6282-373D-4A46-8076-78C8C30E8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894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7F50B-C284-4184-930F-EC13ECB047B2}" type="datetime1">
              <a:rPr lang="en-US" smtClean="0">
                <a:solidFill>
                  <a:srgbClr val="C0504D"/>
                </a:solidFill>
              </a:rPr>
              <a:pPr/>
              <a:t>4/22/2026</a:t>
            </a:fld>
            <a:endParaRPr lang="en-US">
              <a:solidFill>
                <a:srgbClr val="C0504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0504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6282-373D-4A46-8076-78C8C30E8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814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0012-8235-408C-899E-2AC4A4ACEEF4}" type="datetime1">
              <a:rPr lang="en-US" smtClean="0">
                <a:solidFill>
                  <a:srgbClr val="C0504D"/>
                </a:solidFill>
              </a:rPr>
              <a:pPr/>
              <a:t>4/22/2026</a:t>
            </a:fld>
            <a:endParaRPr lang="en-US">
              <a:solidFill>
                <a:srgbClr val="C0504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0504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6282-373D-4A46-8076-78C8C30E8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76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C52F4-7B6C-4007-A10E-DF6C13082DC2}" type="datetime1">
              <a:rPr lang="en-US" smtClean="0">
                <a:solidFill>
                  <a:srgbClr val="C0504D"/>
                </a:solidFill>
              </a:rPr>
              <a:pPr/>
              <a:t>4/22/2026</a:t>
            </a:fld>
            <a:endParaRPr lang="en-US">
              <a:solidFill>
                <a:srgbClr val="C0504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C0504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46282-373D-4A46-8076-78C8C30E8F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6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6038" rIns="0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69" name="Rectangle 2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914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pPr>
              <a:defRPr/>
            </a:pPr>
            <a:fld id="{2801FE61-144D-4FAC-A335-CD82AB0FA4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228600" y="1295400"/>
            <a:ext cx="8686800" cy="1524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71" name="Text Box 23"/>
          <p:cNvSpPr txBox="1">
            <a:spLocks noChangeArrowheads="1"/>
          </p:cNvSpPr>
          <p:nvPr/>
        </p:nvSpPr>
        <p:spPr bwMode="auto">
          <a:xfrm>
            <a:off x="381000" y="6172200"/>
            <a:ext cx="2590800" cy="30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endParaRPr lang="en-US" sz="1400"/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228600" y="6096000"/>
            <a:ext cx="8686800" cy="762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3" r:id="rId12"/>
    <p:sldLayoutId id="2147483914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84184B30-1D00-43DB-9CCF-06046F63A66A}" type="datetime1">
              <a:rPr lang="en-US" smtClean="0">
                <a:solidFill>
                  <a:srgbClr val="C0504D"/>
                </a:solidFill>
                <a:latin typeface="Georgi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4/22/2026</a:t>
            </a:fld>
            <a:endParaRPr lang="en-US">
              <a:solidFill>
                <a:srgbClr val="C0504D"/>
              </a:solidFill>
              <a:latin typeface="Georgi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rgbClr val="C0504D"/>
              </a:solidFill>
              <a:latin typeface="Georgia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1F246282-373D-4A46-8076-78C8C30E8FDD}" type="slidenum">
              <a:rPr lang="en-US" smtClean="0">
                <a:latin typeface="Georgia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35745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73195"/>
            <a:ext cx="8458200" cy="196691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prstClr val="white"/>
                </a:solidFill>
                <a:latin typeface="Garamond" pitchFamily="18" charset="0"/>
              </a:rPr>
              <a:t>CS-234: Computer Organization and Assembly Language</a:t>
            </a:r>
            <a:br>
              <a:rPr lang="en-US" sz="4000">
                <a:solidFill>
                  <a:prstClr val="white"/>
                </a:solidFill>
                <a:latin typeface="Garamond" pitchFamily="18" charset="0"/>
              </a:rPr>
            </a:br>
            <a:r>
              <a:rPr lang="en-US" sz="4000" b="1">
                <a:solidFill>
                  <a:srgbClr val="F79646">
                    <a:lumMod val="75000"/>
                  </a:srgbClr>
                </a:solidFill>
                <a:latin typeface="Garamond" pitchFamily="18" charset="0"/>
              </a:rPr>
              <a:t>Cache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Garamond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2984" y="4191000"/>
            <a:ext cx="4953000" cy="1752600"/>
          </a:xfrm>
        </p:spPr>
        <p:txBody>
          <a:bodyPr/>
          <a:lstStyle/>
          <a:p>
            <a:r>
              <a:rPr lang="en-US" b="1" dirty="0">
                <a:latin typeface="Garamond" pitchFamily="18" charset="0"/>
              </a:rPr>
              <a:t>Dr. Sara </a:t>
            </a:r>
            <a:r>
              <a:rPr lang="en-US" b="1" dirty="0" err="1">
                <a:latin typeface="Garamond" pitchFamily="18" charset="0"/>
              </a:rPr>
              <a:t>Shakil</a:t>
            </a:r>
            <a:r>
              <a:rPr lang="en-US" b="1" dirty="0">
                <a:latin typeface="Garamond" pitchFamily="18" charset="0"/>
              </a:rPr>
              <a:t> Qureshi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984" y="4648200"/>
            <a:ext cx="4876800" cy="173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0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42B14-2ECB-A45A-5961-8A005B13A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 Black" pitchFamily="34" charset="0"/>
              </a:rPr>
              <a:t>Computer Organization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D4B7B1-C005-E3A4-2BEA-9BC0F14FF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7742" y="1524000"/>
            <a:ext cx="5268515" cy="44958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C898E-043F-67E9-8A48-E0EDCA3C44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C083E-7278-49AA-AE6B-6EFDBEA3073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7772400" cy="7620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itchFamily="34" charset="0"/>
              </a:rPr>
              <a:t> Interfacing in Microprocessor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524000"/>
            <a:ext cx="8610600" cy="5257800"/>
          </a:xfrm>
        </p:spPr>
        <p:txBody>
          <a:bodyPr>
            <a:normAutofit/>
          </a:bodyPr>
          <a:lstStyle/>
          <a:p>
            <a:pPr marL="355600" algn="just">
              <a:lnSpc>
                <a:spcPct val="150000"/>
              </a:lnSpc>
              <a:spcBef>
                <a:spcPts val="105"/>
              </a:spcBef>
            </a:pPr>
            <a:r>
              <a:rPr lang="en-US" sz="2000" b="0" cap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process of connecting external devices such as memory and I/O peripherals to the microprocessor, allowing control and data exchange.</a:t>
            </a:r>
          </a:p>
          <a:p>
            <a:pPr marL="355600" algn="just">
              <a:lnSpc>
                <a:spcPct val="150000"/>
              </a:lnSpc>
              <a:spcBef>
                <a:spcPts val="105"/>
              </a:spcBef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Types</a:t>
            </a:r>
          </a:p>
          <a:p>
            <a:pPr marL="698500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Memory Interfacing </a:t>
            </a:r>
          </a:p>
          <a:p>
            <a:pPr marL="698500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I/O Interfacing</a:t>
            </a:r>
          </a:p>
          <a:p>
            <a:pPr marL="1128268" lvl="1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Memory-Mapped I/O and Isolated I/O</a:t>
            </a:r>
          </a:p>
          <a:p>
            <a:pPr marL="698500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Data transfer</a:t>
            </a:r>
          </a:p>
          <a:p>
            <a:pPr marL="698500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Timing and control</a:t>
            </a:r>
          </a:p>
          <a:p>
            <a:pPr marL="698500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Address decoding</a:t>
            </a:r>
          </a:p>
        </p:txBody>
      </p:sp>
    </p:spTree>
    <p:extLst>
      <p:ext uri="{BB962C8B-B14F-4D97-AF65-F5344CB8AC3E}">
        <p14:creationId xmlns:p14="http://schemas.microsoft.com/office/powerpoint/2010/main" val="2623292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04800"/>
            <a:ext cx="7772400" cy="7620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itchFamily="34" charset="0"/>
              </a:rPr>
              <a:t>IA-32 Modes of Operation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676400"/>
            <a:ext cx="7924800" cy="4038600"/>
          </a:xfrm>
        </p:spPr>
        <p:txBody>
          <a:bodyPr>
            <a:normAutofit/>
          </a:bodyPr>
          <a:lstStyle/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Mode</a:t>
            </a:r>
          </a:p>
          <a:p>
            <a:pPr algn="l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Protected Mode </a:t>
            </a:r>
          </a:p>
          <a:p>
            <a:pPr algn="l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Management Mode </a:t>
            </a:r>
          </a:p>
          <a:p>
            <a:pPr algn="l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8086 Mode </a:t>
            </a:r>
            <a:endParaRPr lang="en-US"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76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04800"/>
            <a:ext cx="7772400" cy="7620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itchFamily="34" charset="0"/>
              </a:rPr>
              <a:t>IA-32 Modes of Operation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524000"/>
            <a:ext cx="8610600" cy="518160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Mode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access only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1MB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(beyond 80286) – 16-bit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MS-DOS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task at a time (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Single-Tasking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no protection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Programs can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Shared Memory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Locations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Protected Mode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access only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4GB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RAM, 32-bit 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Windows, Linux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multi-tasking, memory protection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Reservation for each Program</a:t>
            </a:r>
          </a:p>
        </p:txBody>
      </p:sp>
    </p:spTree>
    <p:extLst>
      <p:ext uri="{BB962C8B-B14F-4D97-AF65-F5344CB8AC3E}">
        <p14:creationId xmlns:p14="http://schemas.microsoft.com/office/powerpoint/2010/main" val="210105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304800"/>
            <a:ext cx="7772400" cy="7620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itchFamily="34" charset="0"/>
              </a:rPr>
              <a:t>IA-32 Modes of Operation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447800"/>
            <a:ext cx="7924800" cy="48768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Management Mode (SMM)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 purpose mode used by system/firmware.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Implementing Functions : Power Management, hardware control &amp; System Security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Usually implemented by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 Manufacturers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Invisible to OS</a:t>
            </a:r>
          </a:p>
          <a:p>
            <a:pPr algn="l"/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Mode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Being in Protected Mode: The processor can directly execute a program in Real Mode 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access only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1MB Virtual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(beyond 80286) – Emulating real mode inside protected mode</a:t>
            </a:r>
          </a:p>
        </p:txBody>
      </p:sp>
    </p:spTree>
    <p:extLst>
      <p:ext uri="{BB962C8B-B14F-4D97-AF65-F5344CB8AC3E}">
        <p14:creationId xmlns:p14="http://schemas.microsoft.com/office/powerpoint/2010/main" val="511178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04800"/>
            <a:ext cx="7772400" cy="7620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itchFamily="34" charset="0"/>
              </a:rPr>
              <a:t> IA-32 Memory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466850"/>
            <a:ext cx="7924800" cy="48768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Segmented Memory Model – Real Mode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Calculating linear addresses</a:t>
            </a:r>
          </a:p>
          <a:p>
            <a:pPr algn="l">
              <a:lnSpc>
                <a:spcPct val="150000"/>
              </a:lnSpc>
            </a:pP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Flat Memory Model – Protected Mode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758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04800"/>
            <a:ext cx="7772400" cy="7620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Segmented Memory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7924800" cy="5029200"/>
          </a:xfrm>
        </p:spPr>
        <p:txBody>
          <a:bodyPr>
            <a:normAutofit/>
          </a:bodyPr>
          <a:lstStyle/>
          <a:p>
            <a:pPr marL="37033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Format ~ Segment : Offset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019102"/>
            <a:ext cx="7848600" cy="422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21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04800"/>
            <a:ext cx="7772400" cy="7620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Segmented Memory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371600"/>
            <a:ext cx="8763000" cy="5334000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Address Calculations: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1000h:5000h 		        Calculate linear address.</a:t>
            </a:r>
          </a:p>
          <a:p>
            <a:pPr algn="l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Address Calculations: 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Seg. Address 10000h</a:t>
            </a:r>
          </a:p>
          <a:p>
            <a:pPr algn="l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offset into new Address    Offset Address       5000h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Address =15000h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165" y="2336748"/>
            <a:ext cx="1657435" cy="1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37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04800"/>
            <a:ext cx="7772400" cy="7620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Segmented Memory Model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90" y="2133600"/>
            <a:ext cx="7207620" cy="318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2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28600"/>
            <a:ext cx="5029200" cy="8382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itchFamily="34" charset="0"/>
                <a:cs typeface="Palatino Linotype"/>
              </a:rPr>
              <a:t>Memory</a:t>
            </a:r>
            <a:endParaRPr lang="en-US" sz="2400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1371600"/>
            <a:ext cx="8940800" cy="5486400"/>
          </a:xfrm>
        </p:spPr>
        <p:txBody>
          <a:bodyPr>
            <a:noAutofit/>
          </a:bodyPr>
          <a:lstStyle/>
          <a:p>
            <a:pPr marL="355600" algn="l">
              <a:lnSpc>
                <a:spcPct val="150000"/>
              </a:lnSpc>
              <a:spcBef>
                <a:spcPts val="105"/>
              </a:spcBef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Volatile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memory (RAM)</a:t>
            </a:r>
          </a:p>
          <a:p>
            <a:pPr marL="698500" indent="-342900" algn="l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decays naturally or is lost when electrical power is switched off </a:t>
            </a:r>
          </a:p>
          <a:p>
            <a:pPr marL="355600" algn="l">
              <a:lnSpc>
                <a:spcPct val="150000"/>
              </a:lnSpc>
              <a:spcBef>
                <a:spcPts val="105"/>
              </a:spcBef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Nonvolatile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memory (ROM)</a:t>
            </a:r>
          </a:p>
          <a:p>
            <a:pPr marL="698500" indent="-342900" algn="l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recorded, information remains without deterioration until deliberately changed </a:t>
            </a:r>
          </a:p>
          <a:p>
            <a:pPr marL="698500" indent="-342900" algn="l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electrical power is needed to retain information </a:t>
            </a:r>
          </a:p>
          <a:p>
            <a:pPr marL="355600" algn="l">
              <a:lnSpc>
                <a:spcPct val="150000"/>
              </a:lnSpc>
              <a:spcBef>
                <a:spcPts val="105"/>
              </a:spcBef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Magnetic-surface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memory (HDDs, magnetic tapes)</a:t>
            </a:r>
          </a:p>
          <a:p>
            <a:pPr marL="698500" indent="-342900" algn="l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non-volatile </a:t>
            </a:r>
          </a:p>
        </p:txBody>
      </p:sp>
    </p:spTree>
    <p:extLst>
      <p:ext uri="{BB962C8B-B14F-4D97-AF65-F5344CB8AC3E}">
        <p14:creationId xmlns:p14="http://schemas.microsoft.com/office/powerpoint/2010/main" val="1256098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28600"/>
            <a:ext cx="5029200" cy="8382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itchFamily="34" charset="0"/>
                <a:cs typeface="Palatino Linotype"/>
              </a:rPr>
              <a:t>Memory</a:t>
            </a:r>
            <a:endParaRPr lang="en-US" sz="2400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447800"/>
            <a:ext cx="8636000" cy="5181600"/>
          </a:xfrm>
        </p:spPr>
        <p:txBody>
          <a:bodyPr>
            <a:normAutofit/>
          </a:bodyPr>
          <a:lstStyle/>
          <a:p>
            <a:pPr marL="355600" algn="l">
              <a:lnSpc>
                <a:spcPct val="150000"/>
              </a:lnSpc>
              <a:spcBef>
                <a:spcPts val="105"/>
              </a:spcBef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Semiconductor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memory </a:t>
            </a:r>
          </a:p>
          <a:p>
            <a:pPr marL="698500" indent="-342900" algn="l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be either volatile or nonvolatile </a:t>
            </a: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l">
              <a:lnSpc>
                <a:spcPct val="150000"/>
              </a:lnSpc>
              <a:spcBef>
                <a:spcPts val="105"/>
              </a:spcBef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Nonerasable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memory </a:t>
            </a:r>
          </a:p>
          <a:p>
            <a:pPr marL="698500" indent="-342900" algn="l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 be altered, except by destroying the storage unit</a:t>
            </a:r>
          </a:p>
          <a:p>
            <a:pPr marL="698500" indent="-342900" algn="l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Semiconductor memory of this type is known as read-only memory (ROM) </a:t>
            </a: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2400" b="0" cap="non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l">
              <a:spcBef>
                <a:spcPts val="105"/>
              </a:spcBef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RAM the organization is a key design issue </a:t>
            </a:r>
            <a:endParaRPr lang="en-US" sz="1400" b="0" cap="non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343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28600"/>
            <a:ext cx="5029200" cy="8382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itchFamily="34" charset="0"/>
                <a:cs typeface="Palatino Linotype"/>
              </a:rPr>
              <a:t>Memory</a:t>
            </a:r>
            <a:endParaRPr lang="en-US" sz="2400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371600"/>
            <a:ext cx="8763000" cy="5334000"/>
          </a:xfrm>
        </p:spPr>
        <p:txBody>
          <a:bodyPr>
            <a:noAutofit/>
          </a:bodyPr>
          <a:lstStyle/>
          <a:p>
            <a:pPr marL="355600" algn="l">
              <a:spcBef>
                <a:spcPts val="105"/>
              </a:spcBef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RAM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SRAM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cell uses Flip-Flop to store a Bit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Requires 6 Transistors 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Holds Data as long as power supplied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 and reliable but more costly</a:t>
            </a:r>
          </a:p>
          <a:p>
            <a:pPr algn="l"/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DRAM: 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cell uses MOS transistor and capacitor to store a bit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compact than SRAM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Stores data in capacitors </a:t>
            </a:r>
          </a:p>
          <a:p>
            <a:pPr marL="370332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 refresh rate 15.625 µs</a:t>
            </a:r>
          </a:p>
          <a:p>
            <a:pPr algn="l"/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l">
              <a:spcBef>
                <a:spcPts val="105"/>
              </a:spcBef>
            </a:pPr>
            <a:endParaRPr lang="en-US" sz="2000" b="0" cap="non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676400"/>
            <a:ext cx="2889389" cy="1905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4644982"/>
            <a:ext cx="1905000" cy="168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00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28600"/>
            <a:ext cx="5029200" cy="8382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itchFamily="34" charset="0"/>
                <a:cs typeface="Palatino Linotype"/>
              </a:rPr>
              <a:t>Memory Hierarchy</a:t>
            </a:r>
            <a:endParaRPr lang="en-US" sz="2400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" y="1476375"/>
            <a:ext cx="8343900" cy="5181600"/>
          </a:xfrm>
        </p:spPr>
        <p:txBody>
          <a:bodyPr>
            <a:normAutofit/>
          </a:bodyPr>
          <a:lstStyle/>
          <a:p>
            <a:pPr marL="698500" indent="-342900" algn="l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computer architecture, it is the organization of different types of memory, such as registers, cache and main memory based on speed, capacity and cost.</a:t>
            </a:r>
          </a:p>
          <a:p>
            <a:pPr marL="355600" algn="l">
              <a:spcBef>
                <a:spcPts val="105"/>
              </a:spcBef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l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Faster, smaller and more expensive memory closer to the CPU</a:t>
            </a: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l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Slower, larger and cheaper memory far from the CPU</a:t>
            </a:r>
          </a:p>
        </p:txBody>
      </p:sp>
    </p:spTree>
    <p:extLst>
      <p:ext uri="{BB962C8B-B14F-4D97-AF65-F5344CB8AC3E}">
        <p14:creationId xmlns:p14="http://schemas.microsoft.com/office/powerpoint/2010/main" val="4161800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28600"/>
            <a:ext cx="5029200" cy="8382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rial Black" pitchFamily="34" charset="0"/>
                <a:cs typeface="Palatino Linotype"/>
              </a:rPr>
              <a:t>Memory Hierarchy</a:t>
            </a:r>
            <a:endParaRPr lang="en-US" sz="2400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524000"/>
            <a:ext cx="8610600" cy="5257800"/>
          </a:xfrm>
        </p:spPr>
        <p:txBody>
          <a:bodyPr>
            <a:normAutofit/>
          </a:bodyPr>
          <a:lstStyle/>
          <a:p>
            <a:pPr marL="355600" algn="l">
              <a:lnSpc>
                <a:spcPct val="150000"/>
              </a:lnSpc>
              <a:spcBef>
                <a:spcPts val="105"/>
              </a:spcBef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constraints on a computer’s memory conclude by three questions: </a:t>
            </a:r>
          </a:p>
          <a:p>
            <a:pPr marL="355600" algn="l">
              <a:spcBef>
                <a:spcPts val="105"/>
              </a:spcBef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l">
              <a:spcBef>
                <a:spcPts val="105"/>
              </a:spcBef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much, how fast, how expensive </a:t>
            </a:r>
          </a:p>
          <a:p>
            <a:pPr marL="355600" algn="l">
              <a:spcBef>
                <a:spcPts val="105"/>
              </a:spcBef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algn="l">
              <a:lnSpc>
                <a:spcPct val="160000"/>
              </a:lnSpc>
              <a:spcBef>
                <a:spcPts val="105"/>
              </a:spcBef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a trade-off among access time, cost, and capacity</a:t>
            </a:r>
          </a:p>
          <a:p>
            <a:pPr marL="355600" algn="l">
              <a:spcBef>
                <a:spcPts val="105"/>
              </a:spcBef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 access time, greater cost per bit </a:t>
            </a: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Greater capacity, smaller cost per bit </a:t>
            </a: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Greater capacity, slower access time </a:t>
            </a:r>
          </a:p>
        </p:txBody>
      </p:sp>
    </p:spTree>
    <p:extLst>
      <p:ext uri="{BB962C8B-B14F-4D97-AF65-F5344CB8AC3E}">
        <p14:creationId xmlns:p14="http://schemas.microsoft.com/office/powerpoint/2010/main" val="3667025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228600"/>
            <a:ext cx="5029200" cy="83820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Arial Black" pitchFamily="34" charset="0"/>
                <a:cs typeface="Palatino Linotype"/>
              </a:rPr>
              <a:t>Memory Hierarchy</a:t>
            </a:r>
            <a:endParaRPr lang="en-US" sz="2400" dirty="0">
              <a:latin typeface="Arial Black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6"/>
          <a:stretch/>
        </p:blipFill>
        <p:spPr>
          <a:xfrm>
            <a:off x="1219200" y="1447800"/>
            <a:ext cx="71628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45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81000"/>
            <a:ext cx="7772400" cy="68580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rial Black" pitchFamily="34" charset="0"/>
                <a:cs typeface="Palatino Linotype"/>
              </a:rPr>
              <a:t>Cache 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447800"/>
            <a:ext cx="8458200" cy="5029200"/>
          </a:xfrm>
        </p:spPr>
        <p:txBody>
          <a:bodyPr>
            <a:normAutofit/>
          </a:bodyPr>
          <a:lstStyle/>
          <a:p>
            <a:pPr marL="698500" indent="-342900" algn="l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b="0" cap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 is a small high speed memory that acts as a buffer between the CPU and main memory</a:t>
            </a:r>
          </a:p>
          <a:p>
            <a:pPr marL="355600" algn="l">
              <a:spcBef>
                <a:spcPts val="105"/>
              </a:spcBef>
            </a:pPr>
            <a:endParaRPr lang="en-US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b="0" cap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Stores frequently accessed data and instructions</a:t>
            </a: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b="0" cap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Advantages:</a:t>
            </a: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1299718" lvl="1" indent="-514350" algn="l">
              <a:lnSpc>
                <a:spcPct val="150000"/>
              </a:lnSpc>
              <a:spcBef>
                <a:spcPts val="105"/>
              </a:spcBef>
              <a:buFont typeface="+mj-lt"/>
              <a:buAutoNum type="arabicPeriod"/>
            </a:pPr>
            <a:r>
              <a:rPr lang="en-US" sz="2400" b="0" cap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Faster data access</a:t>
            </a:r>
          </a:p>
          <a:p>
            <a:pPr marL="1299718" lvl="1" indent="-514350" algn="l">
              <a:lnSpc>
                <a:spcPct val="150000"/>
              </a:lnSpc>
              <a:spcBef>
                <a:spcPts val="105"/>
              </a:spcBef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Improved system performance</a:t>
            </a:r>
          </a:p>
          <a:p>
            <a:pPr marL="1299718" lvl="1" indent="-514350" algn="l">
              <a:lnSpc>
                <a:spcPct val="150000"/>
              </a:lnSpc>
              <a:spcBef>
                <a:spcPts val="105"/>
              </a:spcBef>
              <a:buFont typeface="+mj-lt"/>
              <a:buAutoNum type="arabicPeriod"/>
            </a:pPr>
            <a:r>
              <a:rPr lang="en-US" sz="2400" b="0" cap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Reduced latency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81000"/>
            <a:ext cx="7772400" cy="68580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rial Black" pitchFamily="34" charset="0"/>
                <a:cs typeface="Palatino Linotype"/>
              </a:rPr>
              <a:t>Cache 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295400"/>
            <a:ext cx="8839200" cy="5486400"/>
          </a:xfrm>
        </p:spPr>
        <p:txBody>
          <a:bodyPr>
            <a:normAutofit/>
          </a:bodyPr>
          <a:lstStyle/>
          <a:p>
            <a:pPr marL="355600" algn="just">
              <a:lnSpc>
                <a:spcPct val="150000"/>
              </a:lnSpc>
              <a:spcBef>
                <a:spcPts val="105"/>
              </a:spcBef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Cache Hit</a:t>
            </a:r>
          </a:p>
          <a:p>
            <a:pPr marL="698500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 occurs when the requested data is found in the cache, providing quick data retrieval.</a:t>
            </a:r>
          </a:p>
          <a:p>
            <a:pPr marL="355600" algn="just">
              <a:spcBef>
                <a:spcPts val="105"/>
              </a:spcBef>
            </a:pPr>
            <a:endParaRPr lang="en-US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55600" algn="just">
              <a:lnSpc>
                <a:spcPct val="150000"/>
              </a:lnSpc>
              <a:spcBef>
                <a:spcPts val="105"/>
              </a:spcBef>
            </a:pPr>
            <a:r>
              <a:rPr lang="en-US" sz="2400" b="1" cap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Cache Miss</a:t>
            </a:r>
          </a:p>
          <a:p>
            <a:pPr marL="698500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 happens when the requested data is not found in the cache and requires to be retrieved from the main memory.</a:t>
            </a:r>
          </a:p>
          <a:p>
            <a:pPr marL="698500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High cache miss rates slow down the performance</a:t>
            </a:r>
          </a:p>
          <a:p>
            <a:pPr marL="355600" algn="just">
              <a:spcBef>
                <a:spcPts val="105"/>
              </a:spcBef>
            </a:pPr>
            <a:endParaRPr lang="en-US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55600" algn="just">
              <a:spcBef>
                <a:spcPts val="105"/>
              </a:spcBef>
            </a:pPr>
            <a:endParaRPr lang="en-US" sz="2400" b="1" cap="non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927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81000"/>
            <a:ext cx="7772400" cy="68580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rial Black" pitchFamily="34" charset="0"/>
                <a:cs typeface="Palatino Linotype"/>
              </a:rPr>
              <a:t>Cache Operation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524000"/>
            <a:ext cx="7924800" cy="5105400"/>
          </a:xfrm>
        </p:spPr>
        <p:txBody>
          <a:bodyPr>
            <a:normAutofit/>
          </a:bodyPr>
          <a:lstStyle/>
          <a:p>
            <a:pPr marL="370332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 requests contents of memory location.</a:t>
            </a:r>
          </a:p>
          <a:p>
            <a:pPr marL="370332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cache for this data.</a:t>
            </a:r>
          </a:p>
          <a:p>
            <a:pPr marL="370332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present, get from cache (fast).</a:t>
            </a:r>
          </a:p>
          <a:p>
            <a:pPr marL="370332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not present, read required block from main memory to cache.</a:t>
            </a:r>
          </a:p>
          <a:p>
            <a:pPr marL="370332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deliver from cache to CPU.</a:t>
            </a:r>
          </a:p>
        </p:txBody>
      </p:sp>
    </p:spTree>
    <p:extLst>
      <p:ext uri="{BB962C8B-B14F-4D97-AF65-F5344CB8AC3E}">
        <p14:creationId xmlns:p14="http://schemas.microsoft.com/office/powerpoint/2010/main" val="3103381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7772400" cy="685800"/>
          </a:xfrm>
        </p:spPr>
        <p:txBody>
          <a:bodyPr>
            <a:normAutofit/>
          </a:bodyPr>
          <a:lstStyle/>
          <a:p>
            <a:pPr algn="ctr"/>
            <a:r>
              <a:rPr lang="en-US" sz="2600" dirty="0">
                <a:latin typeface="Arial Black" pitchFamily="34" charset="0"/>
                <a:cs typeface="Palatino Linotype"/>
              </a:rPr>
              <a:t>Cache Operation Flowchart</a:t>
            </a:r>
            <a:endParaRPr lang="en-US" sz="2600" dirty="0">
              <a:latin typeface="Arial Black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447800"/>
            <a:ext cx="7238999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24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381000"/>
            <a:ext cx="7772400" cy="68580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rial Black" pitchFamily="34" charset="0"/>
                <a:cs typeface="Palatino Linotype"/>
              </a:rPr>
              <a:t>Cache Sizes </a:t>
            </a:r>
            <a:endParaRPr lang="en-US" sz="2800" dirty="0">
              <a:latin typeface="Arial Black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3"/>
          <a:stretch/>
        </p:blipFill>
        <p:spPr>
          <a:xfrm>
            <a:off x="685800" y="1371600"/>
            <a:ext cx="7619999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66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304800"/>
            <a:ext cx="5029200" cy="838200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Arial Black" pitchFamily="34" charset="0"/>
                <a:cs typeface="Palatino Linotype"/>
              </a:rPr>
              <a:t>Memory</a:t>
            </a:r>
            <a:endParaRPr lang="en-US" sz="2800" dirty="0">
              <a:latin typeface="Arial Black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447800"/>
            <a:ext cx="6858000" cy="484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339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152400"/>
            <a:ext cx="7772400" cy="91440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Arial Black" pitchFamily="34" charset="0"/>
                <a:cs typeface="Palatino Linotype"/>
              </a:rPr>
              <a:t>Cache and Main Memory </a:t>
            </a:r>
            <a:endParaRPr lang="en-US" sz="2400" dirty="0">
              <a:latin typeface="Arial Black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3125"/>
          <a:stretch/>
        </p:blipFill>
        <p:spPr>
          <a:xfrm>
            <a:off x="1104900" y="1466850"/>
            <a:ext cx="7086600" cy="472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48C5EB-0ECD-48A0-9C9A-9CEBDCD9B6AD}"/>
              </a:ext>
            </a:extLst>
          </p:cNvPr>
          <p:cNvSpPr txBox="1"/>
          <p:nvPr/>
        </p:nvSpPr>
        <p:spPr>
          <a:xfrm>
            <a:off x="244642" y="6224337"/>
            <a:ext cx="1061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468273"/>
                </a:solidFill>
                <a:latin typeface="ArialMT"/>
              </a:rPr>
              <a:t>Computer Organization and Architecture</a:t>
            </a:r>
            <a:r>
              <a:rPr lang="en-US" sz="1800" b="0" i="1" u="none" strike="noStrike" baseline="0" dirty="0">
                <a:solidFill>
                  <a:srgbClr val="585858"/>
                </a:solidFill>
                <a:latin typeface="Arial-ItalicMT"/>
              </a:rPr>
              <a:t>, 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ArialMT"/>
              </a:rPr>
              <a:t>Eleventh Edition by </a:t>
            </a:r>
            <a:r>
              <a:rPr lang="en-US" sz="1800" b="1" i="0" u="none" strike="noStrike" baseline="0" dirty="0">
                <a:solidFill>
                  <a:srgbClr val="333333"/>
                </a:solidFill>
                <a:latin typeface="Arial-BoldMT"/>
              </a:rPr>
              <a:t>William Stallings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77530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56B7C-1A96-DBB4-6BF2-AF9D9B2E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 Black" pitchFamily="34" charset="0"/>
                <a:cs typeface="Palatino Linotype"/>
              </a:rPr>
              <a:t>Cache and Main Memory 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05ED35B-FDA8-5404-D253-3387C172C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3562" y="1524000"/>
            <a:ext cx="5796876" cy="4495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3BC6B-985F-FBA5-9D6B-7E0E2BBD2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C083E-7278-49AA-AE6B-6EFDBEA3073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B505D-2E6F-AB78-A0DE-0BD07489C2A9}"/>
              </a:ext>
            </a:extLst>
          </p:cNvPr>
          <p:cNvSpPr txBox="1"/>
          <p:nvPr/>
        </p:nvSpPr>
        <p:spPr>
          <a:xfrm>
            <a:off x="244642" y="6224337"/>
            <a:ext cx="1061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468273"/>
                </a:solidFill>
                <a:latin typeface="ArialMT"/>
              </a:rPr>
              <a:t>Computer Organization and Architecture</a:t>
            </a:r>
            <a:r>
              <a:rPr lang="en-US" sz="1800" b="0" i="1" u="none" strike="noStrike" baseline="0" dirty="0">
                <a:solidFill>
                  <a:srgbClr val="585858"/>
                </a:solidFill>
                <a:latin typeface="Arial-ItalicMT"/>
              </a:rPr>
              <a:t>, 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ArialMT"/>
              </a:rPr>
              <a:t>Eleventh Edition by </a:t>
            </a:r>
            <a:r>
              <a:rPr lang="en-US" sz="1800" b="1" i="0" u="none" strike="noStrike" baseline="0" dirty="0">
                <a:solidFill>
                  <a:srgbClr val="333333"/>
                </a:solidFill>
                <a:latin typeface="Arial-BoldMT"/>
              </a:rPr>
              <a:t>William Stallings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23964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F2C23-2B2A-929A-25CD-BEAB3EC7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E5E53-F4BB-F819-2C20-7115A8C2C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Block: The minimum unit of transfer between cache and main memory. </a:t>
            </a:r>
          </a:p>
          <a:p>
            <a:r>
              <a:rPr lang="en-US" dirty="0"/>
              <a:t>Frame: To distinguish between the data transferred and the chunk of physical memory </a:t>
            </a:r>
          </a:p>
          <a:p>
            <a:r>
              <a:rPr lang="en-US" dirty="0"/>
              <a:t>Line:  A portion of cache memory capable of holding one block, (i.e., all bytes of the line are typically drawn in one row). </a:t>
            </a:r>
          </a:p>
          <a:p>
            <a:r>
              <a:rPr lang="en-US" dirty="0"/>
              <a:t>Tag: A portion of a cache line that is used for addressing purposes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120F6-09F2-D80A-8CCF-D4FD244ED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C083E-7278-49AA-AE6B-6EFDBEA3073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81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6600" y="228600"/>
            <a:ext cx="5029200" cy="83820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Arial Black" pitchFamily="34" charset="0"/>
              </a:rPr>
              <a:t>Memory Mapping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600200"/>
            <a:ext cx="8382000" cy="3962400"/>
          </a:xfrm>
        </p:spPr>
        <p:txBody>
          <a:bodyPr>
            <a:normAutofit/>
          </a:bodyPr>
          <a:lstStyle/>
          <a:p>
            <a:pPr marL="355600" algn="l">
              <a:spcBef>
                <a:spcPts val="105"/>
              </a:spcBef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Because there are fewer cache lines than main memory blocks, an algorithm is needed for mapping main memory blocks into cache lines </a:t>
            </a:r>
          </a:p>
          <a:p>
            <a:pPr marL="355600" algn="l">
              <a:spcBef>
                <a:spcPts val="105"/>
              </a:spcBef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Mapping </a:t>
            </a: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Associative Mapping </a:t>
            </a: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 algn="l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Associative Mapping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B73137-1115-02CF-9F37-FBD247ED630B}"/>
              </a:ext>
            </a:extLst>
          </p:cNvPr>
          <p:cNvSpPr txBox="1"/>
          <p:nvPr/>
        </p:nvSpPr>
        <p:spPr>
          <a:xfrm>
            <a:off x="244642" y="6224337"/>
            <a:ext cx="1061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468273"/>
                </a:solidFill>
                <a:latin typeface="ArialMT"/>
              </a:rPr>
              <a:t>Computer Organization and Architecture</a:t>
            </a:r>
            <a:r>
              <a:rPr lang="en-US" sz="1800" b="0" i="1" u="none" strike="noStrike" baseline="0" dirty="0">
                <a:solidFill>
                  <a:srgbClr val="585858"/>
                </a:solidFill>
                <a:latin typeface="Arial-ItalicMT"/>
              </a:rPr>
              <a:t>, 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ArialMT"/>
              </a:rPr>
              <a:t>Eleventh Edition by </a:t>
            </a:r>
            <a:r>
              <a:rPr lang="en-US" sz="1800" b="1" i="0" u="none" strike="noStrike" baseline="0" dirty="0">
                <a:solidFill>
                  <a:srgbClr val="333333"/>
                </a:solidFill>
                <a:latin typeface="Arial-BoldMT"/>
              </a:rPr>
              <a:t>William Stallings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86488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799C-2556-4992-BA8C-FBB8191D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EAFF0-2DFF-0B7A-1860-F45254274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block of main memory can map to only one unique line of cache.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4657E-AC39-D85D-B69E-EC34534CE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C083E-7278-49AA-AE6B-6EFDBEA3073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43FBF-FB04-29B2-8933-C26BB8BBB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2543175"/>
            <a:ext cx="732472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21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B42AF-47D9-DCC9-05C6-21234ABE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4A809-30A5-5338-F646-AE7C283B0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block of main memory can map to any line of cache.</a:t>
            </a:r>
          </a:p>
          <a:p>
            <a:r>
              <a:rPr lang="en-US" dirty="0"/>
              <a:t>Tag portion of address used to check every line for hit on that 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1D522-1043-05E0-7433-D6045B6CB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C083E-7278-49AA-AE6B-6EFDBEA3073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B26105-9962-5F5F-B280-9375561728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30"/>
          <a:stretch/>
        </p:blipFill>
        <p:spPr>
          <a:xfrm>
            <a:off x="1143000" y="3454400"/>
            <a:ext cx="6629400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21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3974B-EBB6-7AF2-317E-0C097CFA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Associative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209A1-B66A-4942-7DBD-6A97D2B91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block of main memory maps to one unique cache set.</a:t>
            </a:r>
          </a:p>
          <a:p>
            <a:r>
              <a:rPr lang="en-US" dirty="0"/>
              <a:t>Line portion of address used to access cache set</a:t>
            </a:r>
          </a:p>
          <a:p>
            <a:r>
              <a:rPr lang="en-US" dirty="0"/>
              <a:t>Tag portion used to check every line in that set for hit on that line.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75712-09A8-17A5-0FF0-B842845569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C083E-7278-49AA-AE6B-6EFDBEA3073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AF5A9A-5476-5E6C-63CE-1930DC6693FE}"/>
              </a:ext>
            </a:extLst>
          </p:cNvPr>
          <p:cNvSpPr txBox="1"/>
          <p:nvPr/>
        </p:nvSpPr>
        <p:spPr>
          <a:xfrm>
            <a:off x="244642" y="6224337"/>
            <a:ext cx="1061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468273"/>
                </a:solidFill>
                <a:latin typeface="ArialMT"/>
              </a:rPr>
              <a:t>Computer Organization and Architecture</a:t>
            </a:r>
            <a:r>
              <a:rPr lang="en-US" sz="1800" b="0" i="1" u="none" strike="noStrike" baseline="0" dirty="0">
                <a:solidFill>
                  <a:srgbClr val="585858"/>
                </a:solidFill>
                <a:latin typeface="Arial-ItalicMT"/>
              </a:rPr>
              <a:t>, 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ArialMT"/>
              </a:rPr>
              <a:t>Eleventh Edition by </a:t>
            </a:r>
            <a:r>
              <a:rPr lang="en-US" sz="1800" b="1" i="0" u="none" strike="noStrike" baseline="0" dirty="0">
                <a:solidFill>
                  <a:srgbClr val="333333"/>
                </a:solidFill>
                <a:latin typeface="Arial-BoldMT"/>
              </a:rPr>
              <a:t>William Stallings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98087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9F97-2BA6-9BC7-9C93-15511770F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32680-5D96-34A3-8188-E0975FD98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4F1B5-3E0B-3E4A-CA2B-CBE18EB37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C083E-7278-49AA-AE6B-6EFDBEA3073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3BA0C8-3306-9EC3-B71C-33AB7BE00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82700"/>
            <a:ext cx="5876693" cy="472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A486CA-041B-8349-D86C-184EBB5CCF20}"/>
              </a:ext>
            </a:extLst>
          </p:cNvPr>
          <p:cNvSpPr txBox="1"/>
          <p:nvPr/>
        </p:nvSpPr>
        <p:spPr>
          <a:xfrm>
            <a:off x="244642" y="6224337"/>
            <a:ext cx="1061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468273"/>
                </a:solidFill>
                <a:latin typeface="ArialMT"/>
              </a:rPr>
              <a:t>Computer Organization and Architecture</a:t>
            </a:r>
            <a:r>
              <a:rPr lang="en-US" sz="1800" b="0" i="1" u="none" strike="noStrike" baseline="0" dirty="0">
                <a:solidFill>
                  <a:srgbClr val="585858"/>
                </a:solidFill>
                <a:latin typeface="Arial-ItalicMT"/>
              </a:rPr>
              <a:t>, 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ArialMT"/>
              </a:rPr>
              <a:t>Eleventh Edition by </a:t>
            </a:r>
            <a:r>
              <a:rPr lang="en-US" sz="1800" b="1" i="0" u="none" strike="noStrike" baseline="0" dirty="0">
                <a:solidFill>
                  <a:srgbClr val="333333"/>
                </a:solidFill>
                <a:latin typeface="Arial-BoldMT"/>
              </a:rPr>
              <a:t>William Stallings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18673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B893-E4E5-8E0B-DE9A-22055C04E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1F4A0-DFA7-330F-1EA1-DB20ACB30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Main Memory Size = 32B </a:t>
            </a:r>
          </a:p>
          <a:p>
            <a:r>
              <a:rPr lang="en-US" sz="2400" dirty="0"/>
              <a:t>Cache Size = 16B </a:t>
            </a:r>
          </a:p>
          <a:p>
            <a:r>
              <a:rPr lang="en-US" sz="2400" dirty="0"/>
              <a:t>Block Size = 4 Bytes </a:t>
            </a:r>
          </a:p>
          <a:p>
            <a:r>
              <a:rPr lang="en-US" sz="2400" dirty="0"/>
              <a:t>How many lines for Cache memory? 16 B /4 B=4  lines </a:t>
            </a:r>
          </a:p>
          <a:p>
            <a:r>
              <a:rPr lang="en-US" sz="2400" dirty="0"/>
              <a:t>How many address lines for accessing cache memory lines? </a:t>
            </a:r>
          </a:p>
          <a:p>
            <a:r>
              <a:rPr lang="en-US" sz="2400" dirty="0"/>
              <a:t>2^2 =4,  address lines for Cache is 2  </a:t>
            </a:r>
          </a:p>
          <a:p>
            <a:r>
              <a:rPr lang="en-US" sz="2400" dirty="0"/>
              <a:t>How many Blocks in main memory? </a:t>
            </a:r>
          </a:p>
          <a:p>
            <a:r>
              <a:rPr lang="en-US" sz="2400" dirty="0"/>
              <a:t>32 B/4 B =8  blocks </a:t>
            </a:r>
          </a:p>
          <a:p>
            <a:r>
              <a:rPr lang="en-US" sz="2400" dirty="0"/>
              <a:t>How many address lines for accessing Main memory? </a:t>
            </a:r>
          </a:p>
          <a:p>
            <a:pPr marL="0" indent="0">
              <a:buNone/>
            </a:pPr>
            <a:r>
              <a:rPr lang="en-US" sz="2400" dirty="0"/>
              <a:t>   2^5 =32 , address lines for main memory is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74C19-C439-6AA0-5D9A-253CE64D46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C083E-7278-49AA-AE6B-6EFDBEA3073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8DD08-6ED6-7765-5F98-713C88336DCF}"/>
              </a:ext>
            </a:extLst>
          </p:cNvPr>
          <p:cNvSpPr txBox="1"/>
          <p:nvPr/>
        </p:nvSpPr>
        <p:spPr>
          <a:xfrm>
            <a:off x="244642" y="6224337"/>
            <a:ext cx="1061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468273"/>
                </a:solidFill>
                <a:latin typeface="ArialMT"/>
              </a:rPr>
              <a:t>Computer Organization and Architecture</a:t>
            </a:r>
            <a:r>
              <a:rPr lang="en-US" sz="1800" b="0" i="1" u="none" strike="noStrike" baseline="0" dirty="0">
                <a:solidFill>
                  <a:srgbClr val="585858"/>
                </a:solidFill>
                <a:latin typeface="Arial-ItalicMT"/>
              </a:rPr>
              <a:t>, 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ArialMT"/>
              </a:rPr>
              <a:t>Eleventh Edition by </a:t>
            </a:r>
            <a:r>
              <a:rPr lang="en-US" sz="1800" b="1" i="0" u="none" strike="noStrike" baseline="0" dirty="0">
                <a:solidFill>
                  <a:srgbClr val="333333"/>
                </a:solidFill>
                <a:latin typeface="Arial-BoldMT"/>
              </a:rPr>
              <a:t>William Stallings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4649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B5805-00AF-A1EA-82AE-5C0E84D3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CC4E2-1157-5B39-F0B0-5CEC25BBC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Main Memory Size = 16 MB </a:t>
            </a:r>
          </a:p>
          <a:p>
            <a:r>
              <a:rPr lang="en-US" sz="2000" dirty="0"/>
              <a:t>Cache Size = 64 KB </a:t>
            </a:r>
          </a:p>
          <a:p>
            <a:r>
              <a:rPr lang="en-US" sz="2000" dirty="0"/>
              <a:t>Block Size = 4 Bytes </a:t>
            </a:r>
          </a:p>
          <a:p>
            <a:r>
              <a:rPr lang="en-US" sz="2000" dirty="0"/>
              <a:t>How many lines for Cache memory? 64 KB /4 B=16 K lines </a:t>
            </a:r>
          </a:p>
          <a:p>
            <a:r>
              <a:rPr lang="en-US" sz="2000" dirty="0"/>
              <a:t>How many address lines for accessing cache memory lines? 2^14 =16 K,  address lines for Cache is 14 </a:t>
            </a:r>
          </a:p>
          <a:p>
            <a:r>
              <a:rPr lang="en-US" sz="2000" dirty="0"/>
              <a:t>How many Blocks in main memory?</a:t>
            </a:r>
          </a:p>
          <a:p>
            <a:r>
              <a:rPr lang="en-US" sz="2000" dirty="0"/>
              <a:t>16 MB/4 B =4 Mega blocks </a:t>
            </a:r>
          </a:p>
          <a:p>
            <a:r>
              <a:rPr lang="en-US" sz="2000" dirty="0"/>
              <a:t>How many address lines for accessing Main memory? </a:t>
            </a:r>
          </a:p>
          <a:p>
            <a:r>
              <a:rPr lang="en-US" sz="2000" dirty="0"/>
              <a:t>2^24 =16 M, address lines for main memory is 24</a:t>
            </a:r>
          </a:p>
          <a:p>
            <a:pPr marL="0" indent="0">
              <a:buNone/>
            </a:pPr>
            <a:r>
              <a:rPr lang="en-US" sz="2000" dirty="0"/>
              <a:t>Address length =24= (22+2)=(s + w) bits </a:t>
            </a:r>
          </a:p>
          <a:p>
            <a:pPr marL="0" indent="0">
              <a:buNone/>
            </a:pPr>
            <a:r>
              <a:rPr lang="en-US" sz="2000" dirty="0"/>
              <a:t>Address length =24= (</a:t>
            </a:r>
            <a:r>
              <a:rPr lang="en-US" sz="2000" dirty="0" err="1"/>
              <a:t>tag+line+word</a:t>
            </a:r>
            <a:r>
              <a:rPr lang="en-US" sz="2000" dirty="0"/>
              <a:t>)= (8+14+2)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93B4E-20B1-4813-F0B0-72305E73B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C083E-7278-49AA-AE6B-6EFDBEA3073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4B2549-0C0C-648E-F366-A2AC54CBBDF5}"/>
              </a:ext>
            </a:extLst>
          </p:cNvPr>
          <p:cNvSpPr txBox="1"/>
          <p:nvPr/>
        </p:nvSpPr>
        <p:spPr>
          <a:xfrm>
            <a:off x="244642" y="6224337"/>
            <a:ext cx="1061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468273"/>
                </a:solidFill>
                <a:latin typeface="ArialMT"/>
              </a:rPr>
              <a:t>Computer Organization and Architecture</a:t>
            </a:r>
            <a:r>
              <a:rPr lang="en-US" sz="1800" b="0" i="1" u="none" strike="noStrike" baseline="0" dirty="0">
                <a:solidFill>
                  <a:srgbClr val="585858"/>
                </a:solidFill>
                <a:latin typeface="Arial-ItalicMT"/>
              </a:rPr>
              <a:t>, 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ArialMT"/>
              </a:rPr>
              <a:t>Eleventh Edition by </a:t>
            </a:r>
            <a:r>
              <a:rPr lang="en-US" sz="1800" b="1" i="0" u="none" strike="noStrike" baseline="0" dirty="0">
                <a:solidFill>
                  <a:srgbClr val="333333"/>
                </a:solidFill>
                <a:latin typeface="Arial-BoldMT"/>
              </a:rPr>
              <a:t>William Stallings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80306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90FC-A356-1745-9024-5289A9284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2D7C1-DEC6-3572-025E-115A9E2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47800"/>
            <a:ext cx="8382000" cy="4572000"/>
          </a:xfrm>
        </p:spPr>
        <p:txBody>
          <a:bodyPr/>
          <a:lstStyle/>
          <a:p>
            <a:r>
              <a:rPr lang="en-US" sz="2400" dirty="0"/>
              <a:t>When the cache hardware is presented with an address from the processor, the Line Number portion of the address is used to index into the cache. A compare function compares the tag of that line with the Tag field of the address. 	</a:t>
            </a:r>
          </a:p>
          <a:p>
            <a:pPr lvl="1"/>
            <a:r>
              <a:rPr lang="en-US" dirty="0"/>
              <a:t>If there is a match (hit), an enable signal is sent to a select function, which uses the Offset field of the address and the Line Number field of the address to read the desired word or byte from the cache. </a:t>
            </a:r>
          </a:p>
          <a:p>
            <a:pPr lvl="1"/>
            <a:r>
              <a:rPr lang="en-US" sz="2400" dirty="0"/>
              <a:t>If there is no match (miss) then the select function is not enabled and data is accessed from main memory, or the next level of cache.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2B98C-9916-37AD-D70A-098854767B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C083E-7278-49AA-AE6B-6EFDBEA3073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5407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0936-EF3B-B7FC-2947-C42E7E3C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D9C3-9F3C-2EC9-1B7F-8716F2A87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9530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Address length = (s + w) bits </a:t>
            </a:r>
          </a:p>
          <a:p>
            <a:r>
              <a:rPr lang="en-US" sz="2400" dirty="0"/>
              <a:t>Number of addressable units = 2^(</a:t>
            </a:r>
            <a:r>
              <a:rPr lang="en-US" sz="2400" dirty="0" err="1"/>
              <a:t>s+w</a:t>
            </a:r>
            <a:r>
              <a:rPr lang="en-US" sz="2400" dirty="0"/>
              <a:t>) words or bytes </a:t>
            </a:r>
          </a:p>
          <a:p>
            <a:r>
              <a:rPr lang="en-US" sz="2400" dirty="0"/>
              <a:t>Block size = line size = 2^w words or bytes </a:t>
            </a:r>
          </a:p>
          <a:p>
            <a:r>
              <a:rPr lang="en-US" sz="2400" dirty="0"/>
              <a:t>Number of blocks in main memory = 2^(s+ w)/2^w = 2s</a:t>
            </a:r>
          </a:p>
          <a:p>
            <a:r>
              <a:rPr lang="en-US" sz="2400" dirty="0"/>
              <a:t>Number of lines in cache = m = 2^r </a:t>
            </a:r>
          </a:p>
          <a:p>
            <a:r>
              <a:rPr lang="en-US" sz="2400" dirty="0"/>
              <a:t>Size of tag = (s – r) bits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E0FBC-2CAB-2314-FE82-ACD1ECD743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C083E-7278-49AA-AE6B-6EFDBEA30738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32A303-F72E-1925-9B43-003301306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1" y="1524000"/>
            <a:ext cx="4724400" cy="182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9E744B-A829-D661-8AC9-212DB9090605}"/>
              </a:ext>
            </a:extLst>
          </p:cNvPr>
          <p:cNvSpPr txBox="1"/>
          <p:nvPr/>
        </p:nvSpPr>
        <p:spPr>
          <a:xfrm>
            <a:off x="244642" y="6224337"/>
            <a:ext cx="1061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468273"/>
                </a:solidFill>
                <a:latin typeface="ArialMT"/>
              </a:rPr>
              <a:t>Computer Organization and Architecture</a:t>
            </a:r>
            <a:r>
              <a:rPr lang="en-US" sz="1800" b="0" i="1" u="none" strike="noStrike" baseline="0" dirty="0">
                <a:solidFill>
                  <a:srgbClr val="585858"/>
                </a:solidFill>
                <a:latin typeface="Arial-ItalicMT"/>
              </a:rPr>
              <a:t>, </a:t>
            </a:r>
            <a:r>
              <a:rPr lang="en-US" sz="1800" b="0" i="0" u="none" strike="noStrike" baseline="0" dirty="0">
                <a:solidFill>
                  <a:srgbClr val="333333"/>
                </a:solidFill>
                <a:latin typeface="ArialMT"/>
              </a:rPr>
              <a:t>Eleventh Edition by </a:t>
            </a:r>
            <a:r>
              <a:rPr lang="en-US" sz="1800" b="1" i="0" u="none" strike="noStrike" baseline="0" dirty="0">
                <a:solidFill>
                  <a:srgbClr val="333333"/>
                </a:solidFill>
                <a:latin typeface="Arial-BoldMT"/>
              </a:rPr>
              <a:t>William Stallings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61405234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temporary">
  <a:themeElements>
    <a:clrScheme name="Contemporary 2">
      <a:dk1>
        <a:srgbClr val="000000"/>
      </a:dk1>
      <a:lt1>
        <a:srgbClr val="FFFFFF"/>
      </a:lt1>
      <a:dk2>
        <a:srgbClr val="000000"/>
      </a:dk2>
      <a:lt2>
        <a:srgbClr val="868686"/>
      </a:lt2>
      <a:accent1>
        <a:srgbClr val="3366FF"/>
      </a:accent1>
      <a:accent2>
        <a:srgbClr val="009900"/>
      </a:accent2>
      <a:accent3>
        <a:srgbClr val="FFFFFF"/>
      </a:accent3>
      <a:accent4>
        <a:srgbClr val="000000"/>
      </a:accent4>
      <a:accent5>
        <a:srgbClr val="ADB8FF"/>
      </a:accent5>
      <a:accent6>
        <a:srgbClr val="008A00"/>
      </a:accent6>
      <a:hlink>
        <a:srgbClr val="FF0033"/>
      </a:hlink>
      <a:folHlink>
        <a:srgbClr val="CCCCCC"/>
      </a:folHlink>
    </a:clrScheme>
    <a:fontScheme name="Contemporary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ontemporary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Urban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Designs\Contemporary.pot</Template>
  <TotalTime>1251</TotalTime>
  <Words>1368</Words>
  <Application>Microsoft Office PowerPoint</Application>
  <PresentationFormat>On-screen Show (4:3)</PresentationFormat>
  <Paragraphs>217</Paragraphs>
  <Slides>34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Arial</vt:lpstr>
      <vt:lpstr>Arial Black</vt:lpstr>
      <vt:lpstr>Arial-BoldMT</vt:lpstr>
      <vt:lpstr>Arial-ItalicMT</vt:lpstr>
      <vt:lpstr>ArialMT</vt:lpstr>
      <vt:lpstr>Garamond</vt:lpstr>
      <vt:lpstr>Georgia</vt:lpstr>
      <vt:lpstr>Times New Roman</vt:lpstr>
      <vt:lpstr>Trebuchet MS</vt:lpstr>
      <vt:lpstr>Wingdings 2</vt:lpstr>
      <vt:lpstr>Contemporary</vt:lpstr>
      <vt:lpstr>Urban</vt:lpstr>
      <vt:lpstr>CS-234: Computer Organization and Assembly Language Cache</vt:lpstr>
      <vt:lpstr>Computer Organization</vt:lpstr>
      <vt:lpstr> Interfacing in Microprocessor</vt:lpstr>
      <vt:lpstr>IA-32 Modes of Operation</vt:lpstr>
      <vt:lpstr>IA-32 Modes of Operation</vt:lpstr>
      <vt:lpstr>IA-32 Modes of Operation</vt:lpstr>
      <vt:lpstr> IA-32 Memory Management</vt:lpstr>
      <vt:lpstr>Segmented Memory Model</vt:lpstr>
      <vt:lpstr>Segmented Memory Model</vt:lpstr>
      <vt:lpstr>Segmented Memory Model</vt:lpstr>
      <vt:lpstr>Memory</vt:lpstr>
      <vt:lpstr>Memory</vt:lpstr>
      <vt:lpstr>Memory</vt:lpstr>
      <vt:lpstr>Memory Hierarchy</vt:lpstr>
      <vt:lpstr>Memory Hierarchy</vt:lpstr>
      <vt:lpstr>Memory Hierarchy</vt:lpstr>
      <vt:lpstr>Cache </vt:lpstr>
      <vt:lpstr>Cache </vt:lpstr>
      <vt:lpstr>Cache Operation</vt:lpstr>
      <vt:lpstr>Cache Operation Flowchart</vt:lpstr>
      <vt:lpstr>Cache Sizes </vt:lpstr>
      <vt:lpstr>Memory</vt:lpstr>
      <vt:lpstr>Cache and Main Memory </vt:lpstr>
      <vt:lpstr>Cache and Main Memory </vt:lpstr>
      <vt:lpstr>PowerPoint Presentation</vt:lpstr>
      <vt:lpstr>Memory Mapping</vt:lpstr>
      <vt:lpstr>Direct </vt:lpstr>
      <vt:lpstr>Associative </vt:lpstr>
      <vt:lpstr>Set Associative </vt:lpstr>
      <vt:lpstr>Direct Mapping</vt:lpstr>
      <vt:lpstr>Example</vt:lpstr>
      <vt:lpstr>Example</vt:lpstr>
      <vt:lpstr>Direct Mapping</vt:lpstr>
      <vt:lpstr>Direct Mapping</vt:lpstr>
    </vt:vector>
  </TitlesOfParts>
  <Company>University of California, Riverside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“short list” of embedded systems</dc:title>
  <dc:creator>vahid</dc:creator>
  <cp:lastModifiedBy>Qureshi</cp:lastModifiedBy>
  <cp:revision>1133</cp:revision>
  <dcterms:created xsi:type="dcterms:W3CDTF">2000-09-27T14:38:47Z</dcterms:created>
  <dcterms:modified xsi:type="dcterms:W3CDTF">2026-04-21T21:28:06Z</dcterms:modified>
</cp:coreProperties>
</file>